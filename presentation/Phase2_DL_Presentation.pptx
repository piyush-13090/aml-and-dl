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87c64cc-6b9b-b409-253b-6bbc6a8990d6}">
          <p14:sldIdLst>
            <p14:sldId id="256"/>
            <p14:sldId id="257"/>
            <p14:sldId id="258"/>
          </p14:sldIdLst>
        </p14:section>
        <p14:section name="Autoencoder" id="{00d1924b-6e6e-9780-3003-cd5dd7a527b2}">
          <p14:sldIdLst>
            <p14:sldId id="259"/>
            <p14:sldId id="260"/>
            <p14:sldId id="261"/>
            <p14:sldId id="262"/>
          </p14:sldIdLst>
        </p14:section>
        <p14:section name="Hybrid" id="{1454e5b2-9178-c97d-af2a-d79eb393621d}">
          <p14:sldIdLst>
            <p14:sldId id="263"/>
            <p14:sldId id="264"/>
            <p14:sldId id="265"/>
          </p14:sldIdLst>
        </p14:section>
        <p14:section name="Results" id="{9f868ade-985b-8d62-bfe6-271839d10385}">
          <p14:sldIdLst>
            <p14:sldId id="266"/>
            <p14:sldId id="267"/>
          </p14:sldIdLst>
        </p14:section>
        <p14:section name="Conclusion" id="{cb0e0774-e4fb-2167-a559-daf82299ef4c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Project 26 · Team T068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Card-Fraud Triage: GMM Density Scoring vs Autoencoder Anomaly Detector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26 · Phase 2: Deep Learning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Team T068 · Section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Newton School of Technology, Rishihood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T068 (Section B)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463040"/>
          <a:ext cx="9235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phase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Piyush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2401010437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data handling, contamination study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Saransh Singh Tomar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2401010418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input preprocessing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Satwik Mani Tripathi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2401020056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second stage, evidence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Gourav Tanwar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2401010173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architecture and ablations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Alok Kumar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2401010058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tests, label efficiency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recap: a strong GMM with a clear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0.686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label-free GMM test PR-AUC (K = 4, quantile inputs)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76%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frauds caught at a 0.1% false-positive budget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top-50 alerts are fraud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Gap 1 — shape: works only after every feature is forced to look Gaussian; components are fixed ellipsoids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Gap 2 — instability: 434 parameters per component in 28-D; EM depends on its random start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Gap 3 — selection: AIC / BIC keep asking for more components without better detection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Phase 2 question: can a learned non-linear model of legitimate behaviour — or a hybrid — close the gap?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Autoencoder: compress and rebuild legitimate transactions</a:t>
            </a:r>
            <a:endParaRPr lang="en-US" sz="2800" dirty="0"/>
          </a:p>
        </p:txBody>
      </p:sp>
      <p:sp>
        <p:nvSpPr>
          <p:cNvPr id="3" name="layer 0"/>
          <p:cNvSpPr/>
          <p:nvPr/>
        </p:nvSpPr>
        <p:spPr>
          <a:xfrm>
            <a:off x="731520" y="1371600"/>
            <a:ext cx="502920" cy="2743200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28</a:t>
            </a:r>
            <a:endParaRPr lang="en-US" sz="1300" dirty="0"/>
          </a:p>
        </p:txBody>
      </p:sp>
      <p:sp>
        <p:nvSpPr>
          <p:cNvPr id="5" name="layer 1"/>
          <p:cNvSpPr/>
          <p:nvPr/>
        </p:nvSpPr>
        <p:spPr>
          <a:xfrm>
            <a:off x="1645920" y="1541417"/>
            <a:ext cx="502920" cy="2403566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24</a:t>
            </a:r>
            <a:endParaRPr lang="en-US" sz="1300" dirty="0"/>
          </a:p>
        </p:txBody>
      </p:sp>
      <p:sp>
        <p:nvSpPr>
          <p:cNvPr id="7" name="layer 2"/>
          <p:cNvSpPr/>
          <p:nvPr/>
        </p:nvSpPr>
        <p:spPr>
          <a:xfrm>
            <a:off x="2560320" y="1881051"/>
            <a:ext cx="502920" cy="1724297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16</a:t>
            </a:r>
            <a:endParaRPr lang="en-US" sz="1300" dirty="0"/>
          </a:p>
        </p:txBody>
      </p:sp>
      <p:sp>
        <p:nvSpPr>
          <p:cNvPr id="9" name="layer 3"/>
          <p:cNvSpPr/>
          <p:nvPr/>
        </p:nvSpPr>
        <p:spPr>
          <a:xfrm>
            <a:off x="3474720" y="1881051"/>
            <a:ext cx="502920" cy="1724297"/>
          </a:xfrm>
          <a:prstGeom prst="roundRect">
            <a:avLst>
              <a:gd name="adj" fmla="val 14545"/>
            </a:avLst>
          </a:prstGeom>
          <a:solidFill>
            <a:srgbClr val="80808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16</a:t>
            </a:r>
            <a:endParaRPr lang="en-US" sz="1300" dirty="0"/>
          </a:p>
        </p:txBody>
      </p:sp>
      <p:sp>
        <p:nvSpPr>
          <p:cNvPr id="11" name="layer 4"/>
          <p:cNvSpPr/>
          <p:nvPr/>
        </p:nvSpPr>
        <p:spPr>
          <a:xfrm>
            <a:off x="4389120" y="1881051"/>
            <a:ext cx="502920" cy="1724297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16</a:t>
            </a:r>
            <a:endParaRPr lang="en-US" sz="1300" dirty="0"/>
          </a:p>
        </p:txBody>
      </p:sp>
      <p:sp>
        <p:nvSpPr>
          <p:cNvPr id="13" name="layer 5"/>
          <p:cNvSpPr/>
          <p:nvPr/>
        </p:nvSpPr>
        <p:spPr>
          <a:xfrm>
            <a:off x="5303520" y="1541417"/>
            <a:ext cx="502920" cy="2403566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24</a:t>
            </a:r>
            <a:endParaRPr lang="en-US" sz="1300" dirty="0"/>
          </a:p>
        </p:txBody>
      </p:sp>
      <p:sp>
        <p:nvSpPr>
          <p:cNvPr id="15" name="layer 6"/>
          <p:cNvSpPr/>
          <p:nvPr/>
        </p:nvSpPr>
        <p:spPr>
          <a:xfrm>
            <a:off x="6217920" y="1371600"/>
            <a:ext cx="502920" cy="2743200"/>
          </a:xfrm>
          <a:prstGeom prst="roundRect">
            <a:avLst>
              <a:gd name="adj" fmla="val 14545"/>
            </a:avLst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42062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input x  →  encoder  →  code z  →  decoder  →  x̂</a:t>
            </a:r>
            <a:endParaRPr lang="en-US" sz="1400" dirty="0"/>
          </a:p>
        </p:txBody>
      </p:sp>
      <p:sp>
        <p:nvSpPr>
          <p:cNvPr id="18" name="box Score = reconstruction error"/>
          <p:cNvSpPr/>
          <p:nvPr/>
        </p:nvSpPr>
        <p:spPr>
          <a:xfrm>
            <a:off x="7132320" y="1280160"/>
            <a:ext cx="4480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3898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 = reconstruction error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9202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e(x) = ‖x − x̂‖² / d, on the clean input.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Trained on legitimate rows only; it rebuilds normal behaviour well and unusual behaviour badly.</a:t>
            </a:r>
            <a:endParaRPr lang="en-US" sz="1500" dirty="0"/>
          </a:p>
        </p:txBody>
      </p:sp>
      <p:sp>
        <p:nvSpPr>
          <p:cNvPr id="21" name="box Denoising AE"/>
          <p:cNvSpPr/>
          <p:nvPr/>
        </p:nvSpPr>
        <p:spPr>
          <a:xfrm>
            <a:off x="7132320" y="3703320"/>
            <a:ext cx="4480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3813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Denoising AE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343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 on corrupted input (Gaussian noise σ = 0.2), rebuild the clean input → learns to pull points back onto the data manifold (Vincent et al., 2008).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ELU activations, linear code and output; Adam, early stopping on a label-free holdout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ablation variants × 2 seeds, all decided on validation</a:t>
            </a:r>
            <a:endParaRPr lang="en-US" sz="2800" dirty="0"/>
          </a:p>
        </p:txBody>
      </p:sp>
      <p:pic>
        <p:nvPicPr>
          <p:cNvPr id="3" name="Image 0" descr="Validation PR-AUC for every autoencoder ablation grou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Chosen AE: inputs standard, bottleneck m = 16, hidden 24–16, elu; DAE adds Gaussian noise σ = 0.2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Factors interact: stacking every helpful change scored ≈ 0.02 → the final model is chosen among validated candidates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denoising AE matches the GMM; the plain AE trails</a:t>
            </a:r>
            <a:endParaRPr lang="en-US" sz="2800" dirty="0"/>
          </a:p>
        </p:txBody>
      </p:sp>
      <p:pic>
        <p:nvPicPr>
          <p:cNvPr id="3" name="Image 0" descr="Precision-recall and recall-versus-FPR curves for GMM, AE and DA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6766560" cy="24688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Rec@0.1%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(Phase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Undercomplete 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Denoising 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DAE − GMM = -0.025 (95% CI -0.055 to 0.001) — not significant; AE − GMM = -0.068 (95% CI -0.107 to -0.032) — significant (paired bootstrap)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Seeds: DAE 0.61 / 0.64 / 0.63 (stable) vs AE 0.58 / 0.48 / 0.64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Denoising (Gaussian noise σ = 0.2) is the regulariser that matters; dropout hurts; a linear (PCA-like) AE fails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same frauds, different false alarms</a:t>
            </a:r>
            <a:endParaRPr lang="en-US" sz="2800" dirty="0"/>
          </a:p>
        </p:txBody>
      </p:sp>
      <p:sp>
        <p:nvSpPr>
          <p:cNvPr id="3" name="box 1 · Direction weighting (hypothesis)"/>
          <p:cNvSpPr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Direction weighting (hypothesis)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Theory: a Gaussian score weights near-flat directions by 1/λ; MSE weights all equally.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Test: a Mahalanobis score on the AE residuals is worse — residuals are heavy-tailed, so the simple fix fails.</a:t>
            </a:r>
            <a:endParaRPr lang="en-US" sz="1500" dirty="0"/>
          </a:p>
        </p:txBody>
      </p:sp>
      <p:sp>
        <p:nvSpPr>
          <p:cNvPr id="6" name="box 2 · Over-generalisation"/>
          <p:cNvSpPr/>
          <p:nvPr/>
        </p:nvSpPr>
        <p:spPr>
          <a:xfrm>
            <a:off x="6217920" y="1280160"/>
            <a:ext cx="5394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389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Over-generalisation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network rebuilds part of each fraud too.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of deviation reconstructed — legit 74%, fraud 32%.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0.583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AE test PR-AUC, MSE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389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0.171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AE, Mahalanobis score on its residuals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389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0.941 / 0.43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 correlation of AE and GMM: fraud / legit rows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ML + DL hybrid designs</a:t>
            </a:r>
            <a:endParaRPr lang="en-US" sz="2800" dirty="0"/>
          </a:p>
        </p:txBody>
      </p:sp>
      <p:sp>
        <p:nvSpPr>
          <p:cNvPr id="3" name="box H1 Latent GMM"/>
          <p:cNvSpPr/>
          <p:nvPr/>
        </p:nvSpPr>
        <p:spPr>
          <a:xfrm>
            <a:off x="548640" y="1280160"/>
            <a:ext cx="35661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H1 Latent GMM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GMM on the AE code z — density in a low-dimensional learned space (DAGMM idea)</a:t>
            </a:r>
            <a:endParaRPr lang="en-US" sz="1500" dirty="0"/>
          </a:p>
        </p:txBody>
      </p:sp>
      <p:sp>
        <p:nvSpPr>
          <p:cNvPr id="6" name="box H2 DAGMM-style"/>
          <p:cNvSpPr/>
          <p:nvPr/>
        </p:nvSpPr>
        <p:spPr>
          <a:xfrm>
            <a:off x="4297680" y="1280160"/>
            <a:ext cx="35661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389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H2 DAGMM-style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GMM on [z, log error, cosine(x, x̂)] — where on the manifold + how far from it</a:t>
            </a:r>
            <a:endParaRPr lang="en-US" sz="1500" dirty="0"/>
          </a:p>
        </p:txBody>
      </p:sp>
      <p:sp>
        <p:nvSpPr>
          <p:cNvPr id="9" name="box H3 Augmented GMM"/>
          <p:cNvSpPr/>
          <p:nvPr/>
        </p:nvSpPr>
        <p:spPr>
          <a:xfrm>
            <a:off x="8046720" y="1280160"/>
            <a:ext cx="35661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389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H3 Augmented GMM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GMM on [x, log error] — keep all inputs, add the learned error as a dimension</a:t>
            </a:r>
            <a:endParaRPr lang="en-US" sz="1500" dirty="0"/>
          </a:p>
        </p:txBody>
      </p:sp>
      <p:sp>
        <p:nvSpPr>
          <p:cNvPr id="12" name="box H4 Late fusion"/>
          <p:cNvSpPr/>
          <p:nvPr/>
        </p:nvSpPr>
        <p:spPr>
          <a:xfrm>
            <a:off x="548640" y="3611880"/>
            <a:ext cx="35661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21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H4 Late fusion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51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of rank-normalised GMM and AE scores — the naive baseline</a:t>
            </a:r>
            <a:endParaRPr lang="en-US" sz="1500" dirty="0"/>
          </a:p>
        </p:txBody>
      </p:sp>
      <p:sp>
        <p:nvSpPr>
          <p:cNvPr id="15" name="box H5 Semi-supervised"/>
          <p:cNvSpPr/>
          <p:nvPr/>
        </p:nvSpPr>
        <p:spPr>
          <a:xfrm>
            <a:off x="4297680" y="3611880"/>
            <a:ext cx="35661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721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H5 Semi-supervised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251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gradient boosting on [x, GMM score, AE error] with the few frauds analysts labelled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794760"/>
            <a:ext cx="3566160" cy="2148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Leakage control: half A of legit training rows trains the AE, half B fits every stage-2 GMM; 3 seeds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ablation: which combination adds information?</a:t>
            </a:r>
            <a:endParaRPr lang="en-US" sz="2800" dirty="0"/>
          </a:p>
        </p:txBody>
      </p:sp>
      <p:pic>
        <p:nvPicPr>
          <p:cNvPr id="3" name="Image 0" descr="Validation and test PR-AUC for each hybrid desig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Latent hybrids fail: at 1% FPR the latent GMM flags 4% of frauds vs 77% for the GMM on raw inputs — the encoder maps fraud to normal-looking codes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Best unsupervised hybrid (H3 augmented GMM [x, log e]) only ties the GMM: the AE adds no new frauds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 few analyst labels worth?</a:t>
            </a:r>
            <a:endParaRPr lang="en-US" sz="2800" dirty="0"/>
          </a:p>
        </p:txBody>
      </p:sp>
      <p:pic>
        <p:nvPicPr>
          <p:cNvPr id="3" name="Image 0" descr="Test PR-AUC versus number of labelled frauds for supervised and semi-supervised mod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676656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280160"/>
            <a:ext cx="4023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With all 342 training frauds labelled, supervised models beat the label-free GMM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Adding GMM + AE scores as features (H5) changes little at any label budget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The label-free GMM ≈ a supervised model trained on about 17 labelled frauds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on the untouched test set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188720"/>
                <a:gridCol w="128016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Rec@0.1%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Rec@1%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(Phase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Stage-1 DAE alone (half the rows)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H3 augmented GMM [x, log 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GBM, raw features 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Semi-supervised hybrid H5 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H3 augmented GMM [x, log e] − GMM: 0.009 (95% CI -0.009 to 0.023)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Stage-1 DAE alone − GMM: -0.384 (95% CI -0.474 to -0.299)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H5 − supervised GBM: -0.007 (95% CI -0.045 to 0.033)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supervised GBM − GMM: 0.092 (95% CI 0.026 to 0.145)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† uses fraud labels. Thresholds from validation, applied once to test. Paired bootstrap, 1,000 resamples.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recommendation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budget 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budget 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budget 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capacity top-50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capacity top-100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capacity top-200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capacity top-500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x Deploy"/>
          <p:cNvSpPr/>
          <p:nvPr/>
        </p:nvSpPr>
        <p:spPr>
          <a:xfrm>
            <a:off x="7589520" y="1280160"/>
            <a:ext cx="40233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Deploy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9202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Label-free model: GMM (Phase 1). Start with a strict 0.1% budget or a fixed top-k queue.</a:t>
            </a:r>
            <a:endParaRPr lang="en-US" sz="1500" dirty="0"/>
          </a:p>
        </p:txBody>
      </p:sp>
      <p:sp>
        <p:nvSpPr>
          <p:cNvPr id="7" name="box Then"/>
          <p:cNvSpPr/>
          <p:nvPr/>
        </p:nvSpPr>
        <p:spPr>
          <a:xfrm>
            <a:off x="7589520" y="3794760"/>
            <a:ext cx="40233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904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4348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 analyst labels accumulate, switch to (or add) a supervised model — labels are worth more than any unsupervised refinement.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well-engineered Gaussian density is hard to beat without labels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carefully validated denoising autoencoder matches the GMM; design choices interact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Hybrids that keep the raw inputs match the GMM; latent-space hybrids lose fraud information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Future work: joint DAGMM training, normalising flows, longer time spans with drift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Code, Colab notebooks, reports and viva notes: see the GitHub repository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595959"/>
      </a:accent5>
      <a:accent6>
        <a:srgbClr val="404040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26 — Card-Fraud Triage — Phase 2 — Team T068</dc:title>
  <dc:subject>PptxGenJS Presentation</dc:subject>
  <dc:creator>Project 26 team</dc:creator>
  <cp:lastModifiedBy>Project 26 team</cp:lastModifiedBy>
  <cp:revision>1</cp:revision>
  <dcterms:created xsi:type="dcterms:W3CDTF">2026-10-20T15:01:13Z</dcterms:created>
  <dcterms:modified xsi:type="dcterms:W3CDTF">2026-10-20T15:01:13Z</dcterms:modified>
</cp:coreProperties>
</file>