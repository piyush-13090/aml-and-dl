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590d8b-f2d4-39db-611c-01176469f049}">
          <p14:sldIdLst>
            <p14:sldId id="256"/>
            <p14:sldId id="257"/>
            <p14:sldId id="258"/>
            <p14:sldId id="259"/>
          </p14:sldIdLst>
        </p14:section>
        <p14:section name="Data" id="{79ca13df-9bc4-8eee-b59f-37884032d126}">
          <p14:sldIdLst>
            <p14:sldId id="260"/>
            <p14:sldId id="261"/>
          </p14:sldIdLst>
        </p14:section>
        <p14:section name="Phase 1 model" id="{17c55642-7f4a-1e1c-f36d-37c4dc14fb34}">
          <p14:sldIdLst>
            <p14:sldId id="262"/>
            <p14:sldId id="263"/>
            <p14:sldId id="264"/>
          </p14:sldIdLst>
        </p14:section>
        <p14:section name="Results" id="{b16cd73f-26bb-281a-9fa6-d975bd4cb9fc}">
          <p14:sldIdLst>
            <p14:sldId id="265"/>
            <p14:sldId id="266"/>
            <p14:sldId id="267"/>
          </p14:sldIdLst>
        </p14:section>
        <p14:section name="Conclusion" id="{91187e30-d7de-b8ea-c106-9bb6057a3248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ranking card transactions for human review using a density model of legitimate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anomaly detection: few positives, drifting patterns, delayed labels. Why not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Project 26 · Team T068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Card-Fraud Triage: GMM Density Scoring vs Autoencoder Anomaly Detector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26 · Phase 1: Machine Learning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Team T068 · Section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Newton School of Technology, Rishihood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T068 (Section B)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463040"/>
          <a:ext cx="9235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phase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Piyush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2401010437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quality, EDA, chronological split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Saransh Singh Tomar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2401010418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engineering, scaling ablation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Satwik Mani Tripathi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2401020056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theory, EM, AIC/BIC, stability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Gourav Tanwar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2401010173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 and error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Alok Kumar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2401010058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Evaluation, thresholds, cost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rare, changing and labelled late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0.17%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transactions are fraud (1 in 600)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99.83%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of a model that never flags fraud — so we never report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Weeks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until chargebacks reveal which transactions were fraud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Triage, not classification: analysts can review only a few alerts — rank transactions so the most suspicious come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Learn what legitimate behaviour looks like (abundant, available now), not what fraud looked like last month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Score = how unlikely a transaction is under the legitimate model; metrics = PR-AUC, recall at a false-positive budget, precision at review capacity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model legitimate behaviour, rank by surprise</a:t>
            </a:r>
            <a:endParaRPr lang="en-US" sz="2800" dirty="0"/>
          </a:p>
        </p:txBody>
      </p:sp>
      <p:sp>
        <p:nvSpPr>
          <p:cNvPr id="3" name="box 1  Clean &amp; split"/>
          <p:cNvSpPr/>
          <p:nvPr/>
        </p:nvSpPr>
        <p:spPr>
          <a:xfrm>
            <a:off x="548640" y="146304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 Clean &amp; split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Drop 1,081 duplicates; time-ordered 60 / 20 / 20 split</a:t>
            </a:r>
            <a:endParaRPr lang="en-US" sz="1500" dirty="0"/>
          </a:p>
        </p:txBody>
      </p:sp>
      <p:sp>
        <p:nvSpPr>
          <p:cNvPr id="6" name="box 2  Engineer"/>
          <p:cNvSpPr/>
          <p:nvPr/>
        </p:nvSpPr>
        <p:spPr>
          <a:xfrm>
            <a:off x="3383280" y="146304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log(1+Amount), cyclic hour, quantile transform — fitted on legit train rows only</a:t>
            </a:r>
            <a:endParaRPr lang="en-US" sz="1500" dirty="0"/>
          </a:p>
        </p:txBody>
      </p:sp>
      <p:sp>
        <p:nvSpPr>
          <p:cNvPr id="9" name="box 3  Fit density"/>
          <p:cNvSpPr/>
          <p:nvPr/>
        </p:nvSpPr>
        <p:spPr>
          <a:xfrm>
            <a:off x="6217920" y="146304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 Fit density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Gaussian Mixture by EM on legitimate rows; labels never seen</a:t>
            </a:r>
            <a:endParaRPr lang="en-US" sz="1500" dirty="0"/>
          </a:p>
        </p:txBody>
      </p:sp>
      <p:sp>
        <p:nvSpPr>
          <p:cNvPr id="12" name="box 4  Score &amp; rank"/>
          <p:cNvSpPr/>
          <p:nvPr/>
        </p:nvSpPr>
        <p:spPr>
          <a:xfrm>
            <a:off x="9052560" y="146304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 Score &amp; rank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03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s(x) = −log p(x); thresholds fixed on validation, frozen for test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Labels are used only to (a) remove fraud from training, (b) choose thresholds on validation, (c) report test results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Every comparison is averaged over several EM seeds; test differences checked by paired bootstrap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credit-card data, split by time</a:t>
            </a:r>
            <a:endParaRPr lang="en-US" sz="2800" dirty="0"/>
          </a:p>
        </p:txBody>
      </p:sp>
      <p:pic>
        <p:nvPicPr>
          <p:cNvPr id="3" name="Image 0" descr="Timeline of the chronological train, validation and test split with fraud mark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6766560" cy="21945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2588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170,236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74904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284,807 transactions over 2 days; V1–V28 are PCA components of confidential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Train on the past, test on the future — base rates drift between blocks (0.20% → 0.10% → 0.13%)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Validation and test fall in daytime hours — night-time fraud appears only in training (limitation)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behaviour is heavy-tailed, fraud loves the night</a:t>
            </a:r>
            <a:endParaRPr lang="en-US" sz="2800" dirty="0"/>
          </a:p>
        </p:txBody>
      </p:sp>
      <p:pic>
        <p:nvPicPr>
          <p:cNvPr id="3" name="Image 0" descr="Transaction volume and fraud rate by hour of d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5486400" cy="2468880"/>
          </a:xfrm>
          <a:prstGeom prst="rect">
            <a:avLst/>
          </a:prstGeom>
        </p:spPr>
      </p:pic>
      <p:pic>
        <p:nvPicPr>
          <p:cNvPr id="4" name="Image 1" descr="Q-Q plots of legitimate features against a normal distributi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25880"/>
            <a:ext cx="5486400" cy="1463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7764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Fraud rate peaks at night (up to ≈ 9× the average) → hour of day is encoded as sin / cos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18 of 31 features have excess kurtosis &gt; 3 (V28 ≈ 966) — far from Gaussian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Frauds sit in the tails of V14, V10, V12, V4 — and move several components together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quantile transform is what makes a GMM work</a:t>
            </a:r>
            <a:endParaRPr lang="en-US" sz="2800" dirty="0"/>
          </a:p>
        </p:txBody>
      </p:sp>
      <p:pic>
        <p:nvPicPr>
          <p:cNvPr id="3" name="Image 0" descr="Heatmap of validation PR-AUC by feature set and scal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603504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325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0.163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 Gaussian, standard scaling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1325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0.691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model, quantile inputs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Quantile transform: each feature → its empirical CDF → inverse normal CDF; fitted on legitimate rows only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Removes the heavy tails that let a few legitimate outliers dominate EM — and makes results stable across seeds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Selected inputs: pca + quantile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mixture, fitted by Expectation–Maximisation</a:t>
            </a:r>
            <a:endParaRPr lang="en-US" sz="2800" dirty="0"/>
          </a:p>
        </p:txBody>
      </p:sp>
      <p:sp>
        <p:nvSpPr>
          <p:cNvPr id="3" name="box Model and score"/>
          <p:cNvSpPr/>
          <p:nvPr/>
        </p:nvSpPr>
        <p:spPr>
          <a:xfrm>
            <a:off x="548640" y="128016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 and score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p(x) = Σₖ πₖ · N(x | μₖ, Σₖ)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Anomaly score s(x) = −log p(x)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Full covariance: (K−1) + K·d + K·d(d+1)/2 parameters</a:t>
            </a:r>
            <a:endParaRPr lang="en-US" sz="1500" dirty="0"/>
          </a:p>
        </p:txBody>
      </p:sp>
      <p:sp>
        <p:nvSpPr>
          <p:cNvPr id="6" name="box EM algorithm"/>
          <p:cNvSpPr/>
          <p:nvPr/>
        </p:nvSpPr>
        <p:spPr>
          <a:xfrm>
            <a:off x="6217920" y="128016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389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 algorithm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E-step: responsibilities γᵢₖ ∝ πₖ N(xᵢ | μₖ, Σₖ)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M-step: πₖ = Nₖ/N, μₖ, Σₖ = weighted averages (+ λI)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Never decreases likelihood — but only a local optimum</a:t>
            </a:r>
            <a:endParaRPr lang="en-US" sz="1500" dirty="0"/>
          </a:p>
        </p:txBody>
      </p:sp>
      <p:sp>
        <p:nvSpPr>
          <p:cNvPr id="9" name="box Choosing K: AIC and BIC"/>
          <p:cNvSpPr/>
          <p:nvPr/>
        </p:nvSpPr>
        <p:spPr>
          <a:xfrm>
            <a:off x="548640" y="3749040"/>
            <a:ext cx="11064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58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Choosing K: AIC and BIC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AIC = 2p − 2 log L̂      BIC = p log n − 2 log L̂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reward fit and penalise parameters; BIC penalises more. We sweep K and covariance type (full / diagonal) and compare the criteria with validation PR-AUC.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wants more components; detection does not improve</a:t>
            </a:r>
            <a:endParaRPr lang="en-US" sz="2800" dirty="0"/>
          </a:p>
        </p:txBody>
      </p:sp>
      <p:pic>
        <p:nvPicPr>
          <p:cNvPr id="3" name="Image 0" descr="AIC, BIC, held-out likelihood and validation PR-AUC versus number of compone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1106424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AIC and BIC choose K = 24 (largest tried); held-out likelihood keeps rising — at large n the penalty p log n is small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Validation PR-AUC is flat or lower for large K, and less stable across seeds → K = 4 selected on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Diagonal covariance fails at every K: fraud is visible in combinations of components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label-free GMM is a strong triage tool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0.686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PR-AUC (95% CI 0.57–0.81)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76%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frauds caught at a 0.1% false-positive budget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577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top-50 alerts are fraud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80160"/>
                <a:gridCol w="14630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(K=4, 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GMM, BIC choice (K=24, 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Gaussian (K=1)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Gaussian, standard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LogReg 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566160" y="5760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† uses fraud labels — upper reference, not a fair competitor. Thresholds chosen on validation, applied once to test.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threshold is a workload decision</a:t>
            </a:r>
            <a:endParaRPr lang="en-US" sz="2800" dirty="0"/>
          </a:p>
        </p:txBody>
      </p:sp>
      <p:pic>
        <p:nvPicPr>
          <p:cNvPr id="3" name="Image 0" descr="Precision and recall versus number of aler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5852160" cy="2651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Tighter budget → much smaller queue, few extra frauds missed: most frauds are either very anomalous or look completely normal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Cost view (review = 5 per alert, missed fraud = its amount): best to review the top 61 alerts — total 2,763 vs 7,728 with no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EM is unstable in high dimensions</a:t>
            </a:r>
            <a:endParaRPr lang="en-US" sz="2800" dirty="0"/>
          </a:p>
        </p:txBody>
      </p:sp>
      <p:pic>
        <p:nvPicPr>
          <p:cNvPr id="3" name="Image 0" descr="Test PR-AUC for five EM seeds per configu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603504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325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0.15–0.74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PR-AUC range, 5 seeds, standard inputs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1325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0.65–0.74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same, quantile inputs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11064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Same model, different random start → very different detector (standard inputs)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Spread grows with K; covariance condition numbers up to ≈ 2,467 — nearly flat directions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Gaussian shape is forced: the quantile transform clips extremes; adding ellipsoids does not help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not mixture size, made the GMM work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Label-free GMM: PR-AUC 0.686, 76% of frauds at a 0.1% false-positive budget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Gap → Phase 2: a learned non-linear model (autoencoder) and an ML + DL hybrid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Code, notebooks (run on Google Colab), report and viva notes: see the GitHub repository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595959"/>
      </a:accent5>
      <a:accent6>
        <a:srgbClr val="404040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26 — Card-Fraud Triage — Phase 1 — Team T068</dc:title>
  <dc:subject>PptxGenJS Presentation</dc:subject>
  <dc:creator>Project 26 team</dc:creator>
  <cp:lastModifiedBy>Project 26 team</cp:lastModifiedBy>
  <cp:revision>1</cp:revision>
  <dcterms:created xsi:type="dcterms:W3CDTF">2026-10-20T15:00:50Z</dcterms:created>
  <dcterms:modified xsi:type="dcterms:W3CDTF">2026-10-20T15:00:50Z</dcterms:modified>
</cp:coreProperties>
</file>